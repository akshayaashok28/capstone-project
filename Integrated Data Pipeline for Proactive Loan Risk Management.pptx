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49" autoAdjust="0"/>
  </p:normalViewPr>
  <p:slideViewPr>
    <p:cSldViewPr>
      <p:cViewPr>
        <p:scale>
          <a:sx n="75" d="100"/>
          <a:sy n="75" d="100"/>
        </p:scale>
        <p:origin x="-1236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B7D60-FCCD-4EC6-A5BB-7F83741C1E9D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98C57-0241-4C58-843C-3309C545A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71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98C57-0241-4C58-843C-3309C545ABF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72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EB636685-1137-466D-AB87-8DBE7BFD331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12A620-A8B0-4C1E-8173-B3794852144E}" type="datetimeFigureOut">
              <a:rPr lang="en-IN" smtClean="0"/>
              <a:t>22-10-2025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404664"/>
            <a:ext cx="7543800" cy="402230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Integrated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Data Pipeline for Proactive Loan Risk Management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4653136"/>
            <a:ext cx="6984776" cy="10668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Turning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High-Volume Loan Data (2007-2011) into Actionable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Policy</a:t>
            </a:r>
            <a:endParaRPr lang="en-IN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1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Problem Statement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Untested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Risk Indicators: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Management was relying on intuition, not data, to identify high-risk loans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Inaccessible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Data: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Data was fragmented across multiple files, making scalable, real-time reporting impossible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Goal Statement: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The goal is to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transform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fragmented data into statistically validated, interactive business intelligence.</a:t>
            </a:r>
            <a:endParaRPr lang="en-US" sz="28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31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The End-to-End Solution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Our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Integrated Solution: The 3-Stage Data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Pipeline</a:t>
            </a:r>
          </a:p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Stage 1 (SQL)Data Engineering &amp; Consolidation: </a:t>
            </a: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          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Clean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, join, and pre-calculate core KPIs from 39K+ records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. The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foundation of the project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Stage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2 (Excel)Statistical Validation &amp; Forecasting: </a:t>
            </a: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          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Use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advanced analysis (ANOVA, Time Series) to prove which factors actually matter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. </a:t>
            </a:r>
          </a:p>
          <a:p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Stage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3 (BI Tool)Interactive Reporting</a:t>
            </a: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:                          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Deliver self-service, visual dashboards for executive decision-making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26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SQL </a:t>
            </a:r>
            <a:r>
              <a:rPr lang="en-IN" b="1" dirty="0" smtClean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The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SQL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for Data Consolidation and KPI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Generation</a:t>
            </a:r>
          </a:p>
          <a:p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Key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Action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1:</a:t>
            </a:r>
          </a:p>
          <a:p>
            <a:pPr marL="114300" indent="0">
              <a:buNone/>
            </a:pP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   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LEFT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JOIN: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Merged two complex data files (FINANCE_MAIN &amp; FINANCE_DETAILS) using the unique ID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Key Action 2:</a:t>
            </a:r>
          </a:p>
          <a:p>
            <a:pPr marL="114300" indent="0">
              <a:buNone/>
            </a:pP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   Pre-Calculated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Metrics: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Aggregated Year-wise Loan Amount and Revolving Balance by Grade to streamline BI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performance.</a:t>
            </a:r>
            <a:endParaRPr lang="en-IN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88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KPI OUTPUT- SQL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72" r="27273" b="37630"/>
          <a:stretch/>
        </p:blipFill>
        <p:spPr bwMode="auto">
          <a:xfrm>
            <a:off x="755576" y="2060848"/>
            <a:ext cx="6192688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1560" y="1412776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1. Year wise  Loan Amount stats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38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7620000" cy="6140152"/>
          </a:xfrm>
        </p:spPr>
        <p:txBody>
          <a:bodyPr/>
          <a:lstStyle/>
          <a:p>
            <a:pPr marL="571500" indent="-457200">
              <a:buFont typeface="+mj-lt"/>
              <a:buAutoNum type="arabicPeriod" startAt="2"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Grade wise Sub Grade wise Revol-Bal</a:t>
            </a:r>
          </a:p>
          <a:p>
            <a:pPr marL="114300" indent="0">
              <a:buNone/>
            </a:pP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78" r="14144" b="35678"/>
          <a:stretch/>
        </p:blipFill>
        <p:spPr bwMode="auto">
          <a:xfrm>
            <a:off x="896857" y="692696"/>
            <a:ext cx="6301858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17891" y="3489173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Total Payment of verified status vs non verified status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61" r="14861" b="44649"/>
          <a:stretch/>
        </p:blipFill>
        <p:spPr bwMode="auto">
          <a:xfrm>
            <a:off x="924744" y="3858505"/>
            <a:ext cx="6407522" cy="2786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998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7620000" cy="5924128"/>
          </a:xfrm>
        </p:spPr>
        <p:txBody>
          <a:bodyPr/>
          <a:lstStyle/>
          <a:p>
            <a:pPr marL="571500" indent="-457200">
              <a:buFont typeface="+mj-lt"/>
              <a:buAutoNum type="arabicPeriod" startAt="4"/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State wise Month wise Loan status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70" r="39985" b="39485"/>
          <a:stretch/>
        </p:blipFill>
        <p:spPr bwMode="auto">
          <a:xfrm>
            <a:off x="971600" y="980728"/>
            <a:ext cx="6552728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0800" y="3652687"/>
            <a:ext cx="576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Home ownership vs </a:t>
            </a: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last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 payment date status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5814" r="40629" b="37406"/>
          <a:stretch/>
        </p:blipFill>
        <p:spPr bwMode="auto">
          <a:xfrm>
            <a:off x="971601" y="4025676"/>
            <a:ext cx="6552728" cy="2499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966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PYTHON- DATA CLEANING AND VISUALS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Data cleaning: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The data has been cleaned by removing errors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Data Extraction: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 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The data extraction is done by converting numeric data, date time data etc.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KPI Metrics:</a:t>
            </a:r>
          </a:p>
          <a:p>
            <a:pPr marL="114300" indent="0">
              <a:buNone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Creating visuals using Sea-Born and Matplotlib by generating the codes for data driven insights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965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548680"/>
            <a:ext cx="6984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1.Year wise loan amount stats</a:t>
            </a:r>
            <a:endParaRPr lang="en-IN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" t="27556" r="23776" b="34746"/>
          <a:stretch/>
        </p:blipFill>
        <p:spPr bwMode="auto">
          <a:xfrm>
            <a:off x="857046" y="925280"/>
            <a:ext cx="6879857" cy="1999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7" t="25783" r="22014" b="8919"/>
          <a:stretch/>
        </p:blipFill>
        <p:spPr bwMode="auto">
          <a:xfrm>
            <a:off x="860495" y="2924944"/>
            <a:ext cx="6630922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8064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634082"/>
          </a:xfrm>
        </p:spPr>
        <p:txBody>
          <a:bodyPr/>
          <a:lstStyle/>
          <a:p>
            <a:pPr marL="571500" indent="-457200">
              <a:spcBef>
                <a:spcPct val="20000"/>
              </a:spcBef>
              <a:buClr>
                <a:schemeClr val="accent1"/>
              </a:buClr>
              <a:buFont typeface="+mj-lt"/>
              <a:buAutoNum type="arabicPeriod" startAt="2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Grade wise subgrade wise Revol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bal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3" t="25885" r="44363" b="8299"/>
          <a:stretch/>
        </p:blipFill>
        <p:spPr bwMode="auto">
          <a:xfrm>
            <a:off x="971600" y="1052736"/>
            <a:ext cx="6643936" cy="4814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388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641350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Total payment for verified vs not verified status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2" t="25944" r="31772" b="48345"/>
          <a:stretch/>
        </p:blipFill>
        <p:spPr bwMode="auto">
          <a:xfrm>
            <a:off x="539552" y="915988"/>
            <a:ext cx="6984776" cy="188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5" t="26124" r="45844" b="10946"/>
          <a:stretch/>
        </p:blipFill>
        <p:spPr bwMode="auto">
          <a:xfrm>
            <a:off x="539552" y="2625128"/>
            <a:ext cx="6984776" cy="4249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099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620000" cy="504056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State wise month wise loan</a:t>
            </a:r>
            <a:r>
              <a:rPr lang="en-US" dirty="0" smtClean="0"/>
              <a:t>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status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3" t="25949" r="34877" b="17088"/>
          <a:stretch/>
        </p:blipFill>
        <p:spPr bwMode="auto">
          <a:xfrm>
            <a:off x="323528" y="1340768"/>
            <a:ext cx="7850956" cy="416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8822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9" t="24846" r="47947" b="8681"/>
          <a:stretch/>
        </p:blipFill>
        <p:spPr bwMode="auto">
          <a:xfrm>
            <a:off x="467544" y="764704"/>
            <a:ext cx="7056784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1560" y="332656"/>
            <a:ext cx="5184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Matplotlib- State/month wise Loan status</a:t>
            </a:r>
            <a:endParaRPr lang="en-IN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46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7620000" cy="490066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Home ownership vs Last payment date stats</a:t>
            </a:r>
            <a:endParaRPr lang="en-IN" sz="2000" b="1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" t="26811" r="38019" b="37924"/>
          <a:stretch/>
        </p:blipFill>
        <p:spPr bwMode="auto">
          <a:xfrm>
            <a:off x="323528" y="548680"/>
            <a:ext cx="7704856" cy="257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4" t="30000" r="40631" b="9573"/>
          <a:stretch/>
        </p:blipFill>
        <p:spPr bwMode="auto">
          <a:xfrm>
            <a:off x="1069504" y="3128392"/>
            <a:ext cx="5966473" cy="354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3378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Excel - The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Stage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2: Excel Proves 'Verification Status' is a Critical Risk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Factor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Method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1: ANOVA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Test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 Result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: F-Statistic (5195.88) &gt;&gt; F-Critical (3.84). P-value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$\approx.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0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$.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Takeaway: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  Statistically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Proven: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Income Verification Status has a significant, proven impact on the Total Payment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received.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Method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2: Time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Series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Finding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Confirmed Exponential Growth (Loan Amounts from $2.2M to $260.5M).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87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KPI OUTCOME- EXCEL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" t="23886" r="30727" b="10962"/>
          <a:stretch/>
        </p:blipFill>
        <p:spPr bwMode="auto">
          <a:xfrm>
            <a:off x="539552" y="1268760"/>
            <a:ext cx="7632848" cy="4951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02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 smtClean="0">
                <a:solidFill>
                  <a:schemeClr val="accent5">
                    <a:lumMod val="75000"/>
                  </a:schemeClr>
                </a:solidFill>
              </a:rPr>
              <a:t>KPI OUTCOME-EXCEL/STATISTICS</a:t>
            </a:r>
            <a:endParaRPr lang="en-IN" sz="4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ANNOVA TEST</a:t>
            </a:r>
          </a:p>
          <a:p>
            <a:endParaRPr lang="en-US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" t="24404" r="28384" b="19508"/>
          <a:stretch/>
        </p:blipFill>
        <p:spPr bwMode="auto">
          <a:xfrm>
            <a:off x="683568" y="2184260"/>
            <a:ext cx="7376931" cy="410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872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 smtClean="0">
                <a:solidFill>
                  <a:schemeClr val="accent5">
                    <a:lumMod val="75000"/>
                  </a:schemeClr>
                </a:solidFill>
              </a:rPr>
              <a:t>KPI OUTCOME-EXCEL/STATISTICS</a:t>
            </a:r>
            <a:endParaRPr lang="en-IN" sz="4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TIME SERIES </a:t>
            </a:r>
          </a:p>
          <a:p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t="24207" r="5627" b="28968"/>
          <a:stretch/>
        </p:blipFill>
        <p:spPr bwMode="auto">
          <a:xfrm>
            <a:off x="609600" y="2204864"/>
            <a:ext cx="7384302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80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Power BI/Tableau - The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Stage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3: Interactive Visuals for Self-Service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Decisions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Visual 1: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Loan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Status by State/Grade: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Identified California, New York, and Texas as the highest volume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markets.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Visual 2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Total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Payment: Verified vs. Not Verified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(Visual confirmation of the ANOVA test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).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Impact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Self-Service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Executives can now drill down by Year, Grade, or Loan Status without waiting for a custom report.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9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KPI OUTCOME-POWER-BI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01" t="21300" r="18364" b="13376"/>
          <a:stretch/>
        </p:blipFill>
        <p:spPr bwMode="auto">
          <a:xfrm>
            <a:off x="611560" y="1484784"/>
            <a:ext cx="7416824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049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KPI OUTCOME-TABLEAU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2" t="-4527" r="208" b="3101"/>
          <a:stretch/>
        </p:blipFill>
        <p:spPr bwMode="auto">
          <a:xfrm>
            <a:off x="467544" y="1340768"/>
            <a:ext cx="7618040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562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Key Findings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Actionable Insights &amp; Policy </a:t>
            </a:r>
            <a:r>
              <a:rPr lang="en-IN" b="1" dirty="0" smtClean="0">
                <a:solidFill>
                  <a:schemeClr val="accent5">
                    <a:lumMod val="75000"/>
                  </a:schemeClr>
                </a:solidFill>
              </a:rPr>
              <a:t>Recommendations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Recommendation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1: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 Mandate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Verification: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Implement a strict policy requiring Verified Status for loans above $15,000 to maximize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returns.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Recommendation 2:</a:t>
            </a:r>
          </a:p>
          <a:p>
            <a:pPr marL="114300" indent="0">
              <a:buNone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Resource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Scaling: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Use the exponential growth forecast to proactively plan for increased capital and underwriting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staff.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Action based on the Time Series analysis.</a:t>
            </a:r>
            <a:endParaRPr lang="en-US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Recommendation 3:</a:t>
            </a:r>
          </a:p>
          <a:p>
            <a:pPr marL="114300" indent="0">
              <a:buNone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Targeted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Monitoring: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Prioritize monitoring of high-risk credit grades (F, G) within high-volume states (CA, NY, TX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Action based on the BI visuals.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89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CONCLUSION &amp; FUTURE ANALYSIS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Future-Proofing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Portfolio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Summary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We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have successfully deployed a robust data pipeline that converts raw loan data into statistically validated risk intelligence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. Reinforce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 value proposition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Future Analysis</a:t>
            </a:r>
          </a:p>
          <a:p>
            <a:pPr marL="571500" indent="-457200">
              <a:buAutoNum type="arabicPeriod"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Develop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 predictive machine learning model based on the verified factors. </a:t>
            </a:r>
            <a:endParaRPr lang="en-US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571500" indent="-457200">
              <a:buAutoNum type="arabicPeriod"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 Integrate the pipeline into a real-time data warehouse.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1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226</TotalTime>
  <Words>668</Words>
  <Application>Microsoft Office PowerPoint</Application>
  <PresentationFormat>On-screen Show (4:3)</PresentationFormat>
  <Paragraphs>77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Adjacency</vt:lpstr>
      <vt:lpstr>Integrated Data Pipeline for Proactive Loan Risk Management</vt:lpstr>
      <vt:lpstr>Problem Statement</vt:lpstr>
      <vt:lpstr>The End-to-End Solution Pipeline</vt:lpstr>
      <vt:lpstr>SQL - The Foundation</vt:lpstr>
      <vt:lpstr>KPI OUTPUT- SQL</vt:lpstr>
      <vt:lpstr>PowerPoint Presentation</vt:lpstr>
      <vt:lpstr>PowerPoint Presentation</vt:lpstr>
      <vt:lpstr>PYTHON- DATA CLEANING AND VISUALS</vt:lpstr>
      <vt:lpstr>PowerPoint Presentation</vt:lpstr>
      <vt:lpstr>Grade wise subgrade wise Revol bal</vt:lpstr>
      <vt:lpstr>Total payment for verified vs not verified status</vt:lpstr>
      <vt:lpstr>State wise month wise loan status</vt:lpstr>
      <vt:lpstr>PowerPoint Presentation</vt:lpstr>
      <vt:lpstr>Home ownership vs Last payment date stats</vt:lpstr>
      <vt:lpstr>Excel - The Proof</vt:lpstr>
      <vt:lpstr>KPI OUTCOME- EXCEL</vt:lpstr>
      <vt:lpstr>KPI OUTCOME-EXCEL/STATISTICS</vt:lpstr>
      <vt:lpstr>KPI OUTCOME-EXCEL/STATISTICS</vt:lpstr>
      <vt:lpstr>Power BI/Tableau - The Visuals</vt:lpstr>
      <vt:lpstr>KPI OUTCOME-POWER-BI</vt:lpstr>
      <vt:lpstr>KPI OUTCOME-TABLEAU</vt:lpstr>
      <vt:lpstr>Key Findings and Recommendations</vt:lpstr>
      <vt:lpstr>CONCLUSION &amp; FUTURE ANALYSIS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Data Pipeline for Proactive Loan Risk Management</dc:title>
  <dc:creator>User</dc:creator>
  <cp:lastModifiedBy>User</cp:lastModifiedBy>
  <cp:revision>19</cp:revision>
  <dcterms:created xsi:type="dcterms:W3CDTF">2025-10-22T18:24:18Z</dcterms:created>
  <dcterms:modified xsi:type="dcterms:W3CDTF">2025-10-22T22:10:22Z</dcterms:modified>
</cp:coreProperties>
</file>